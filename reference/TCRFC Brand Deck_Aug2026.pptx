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2" r:id="rId16"/>
    <p:sldId id="270" r:id="rId17"/>
    <p:sldId id="271" r:id="rId18"/>
    <p:sldId id="272" r:id="rId19"/>
    <p:sldId id="273" r:id="rId20"/>
    <p:sldId id="28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080"/>
    <a:srgbClr val="0D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75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1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35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A137-05CE-3361-FE3B-A950594B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4C03-04C6-ABF1-4DB7-BB2002D0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D1770-E1EC-761F-AC5F-E1D35370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B3E15-C3DF-49D4-253D-4D762294A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99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jp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jpeg"/><Relationship Id="rId5" Type="http://schemas.openxmlformats.org/officeDocument/2006/relationships/image" Target="../media/image5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jpe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jpg"/><Relationship Id="rId4" Type="http://schemas.openxmlformats.org/officeDocument/2006/relationships/image" Target="../media/image32.png"/><Relationship Id="rId9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9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5.png"/><Relationship Id="rId9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5.png"/><Relationship Id="rId7" Type="http://schemas.openxmlformats.org/officeDocument/2006/relationships/image" Target="../media/image8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jpeg"/><Relationship Id="rId5" Type="http://schemas.openxmlformats.org/officeDocument/2006/relationships/image" Target="../media/image78.jpe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jp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5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jp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007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01207" y="0"/>
            <a:ext cx="619140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0C3173C1-540C-E52C-2DE2-2C2122F416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23" t="3484" r="-1"/>
          <a:stretch>
            <a:fillRect/>
          </a:stretch>
        </p:blipFill>
        <p:spPr>
          <a:xfrm>
            <a:off x="6095696" y="1"/>
            <a:ext cx="8379595" cy="705366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096305" y="-1"/>
            <a:ext cx="6096305" cy="68580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71500"/>
            <a:ext cx="1714500" cy="17145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2667305"/>
            <a:ext cx="5429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INSPIRING PLAYERS.</a:t>
            </a:r>
            <a:endParaRPr lang="en-US" sz="30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3181198"/>
            <a:ext cx="5429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SHAPING CHAMPIONS.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4095598"/>
            <a:ext cx="5429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啟發球員．塑造冠軍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5143500"/>
            <a:ext cx="4877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PRIDE. GLOBAL INFLUENCE.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5477256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在地驕傲．撼動全球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5905195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0D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PRESENTER</a:t>
            </a:r>
            <a:endParaRPr lang="en-US" sz="1000" dirty="0">
              <a:solidFill>
                <a:srgbClr val="0D1428"/>
              </a:solidFill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761695" y="6130138"/>
            <a:ext cx="29718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TERRY | FOUNDER</a:t>
            </a:r>
            <a:endParaRPr lang="en-US" sz="13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ECCFB82-DA5D-FEE9-AC9D-406EABF48B39}"/>
              </a:ext>
            </a:extLst>
          </p:cNvPr>
          <p:cNvSpPr txBox="1"/>
          <p:nvPr/>
        </p:nvSpPr>
        <p:spPr>
          <a:xfrm>
            <a:off x="2379945" y="-3883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847DD37C-B623-DD66-8084-362ECC0A5878}"/>
              </a:ext>
            </a:extLst>
          </p:cNvPr>
          <p:cNvSpPr/>
          <p:nvPr/>
        </p:nvSpPr>
        <p:spPr>
          <a:xfrm>
            <a:off x="761695" y="4847572"/>
            <a:ext cx="761695" cy="68241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0287000" y="6476695"/>
            <a:ext cx="1904695" cy="381305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408" r="-408"/>
          <a:stretch/>
        </p:blipFill>
        <p:spPr>
          <a:xfrm>
            <a:off x="6096305" y="2337496"/>
            <a:ext cx="19202" cy="19046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61695" y="190195"/>
            <a:ext cx="7810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TCRFC IS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不只是一支足球隊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2337496"/>
            <a:ext cx="5067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THAN A </a:t>
            </a:r>
            <a:r>
              <a:rPr lang="en-US" sz="21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FOOTBALL CLUB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3099191"/>
            <a:ext cx="5031943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 is a professionally owned and managed football organization built to develop elite players, strengthen football culture in Taiwan, and create international pathways for talent.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76695" y="2337496"/>
            <a:ext cx="51435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超越傳統 </a:t>
            </a:r>
            <a:r>
              <a:rPr lang="en-US" sz="21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足球俱樂部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476695" y="3099191"/>
            <a:ext cx="5031943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TCRFC 是一個專業經營、完整持有的足球組織，致力於培育菁英球員、深化台灣足球文化，並為人才打造國際發展道路。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05195" y="6019495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-1" y="-113386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0287000" y="6476695"/>
            <a:ext cx="1904695" cy="381305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6096305" y="2095805"/>
            <a:ext cx="19202" cy="38103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190195"/>
            <a:ext cx="5906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EXIST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在地扎根．放眼世界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ROOTS.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VISION.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2952598"/>
            <a:ext cx="4877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MISSION: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3314700"/>
            <a:ext cx="48417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world-class development and global opportunity without losing local identity.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4229100"/>
            <a:ext cx="48774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VISION: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4591202"/>
            <a:ext cx="48417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credible Taiwanese pathway from grassroots to global football.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66780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在地深耕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全球視野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667805" y="2952598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使命：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667805" y="3314700"/>
            <a:ext cx="4953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提供世界級培訓與國際機會，同時保有在地認同。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667805" y="4229100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願景：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667805" y="4591202"/>
            <a:ext cx="4953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自基層到全球賽場，建立可信賴的台灣之路。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05195" y="6019495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114300"/>
            <a:ext cx="12191695" cy="1218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1429207"/>
            <a:ext cx="10724998" cy="1380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1429207"/>
            <a:ext cx="57607" cy="1380744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761695" y="2952598"/>
            <a:ext cx="10724998" cy="1380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761695" y="2952598"/>
            <a:ext cx="57607" cy="1380744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761695" y="4476902"/>
            <a:ext cx="10724998" cy="1904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761695" y="4476902"/>
            <a:ext cx="57607" cy="1904695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0"/>
          <p:cNvSpPr txBox="1"/>
          <p:nvPr/>
        </p:nvSpPr>
        <p:spPr>
          <a:xfrm>
            <a:off x="761695" y="381305"/>
            <a:ext cx="7810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PHILOSOPHY</a:t>
            </a:r>
            <a:endParaRPr lang="en-US" sz="31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905256"/>
            <a:ext cx="7810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治理與理念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0401300" y="571500"/>
            <a:ext cx="1028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9751" y="1824228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04695" y="1619402"/>
            <a:ext cx="9258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PROFESSIONALLY OWNED. PROFESSIONALLY MANAGED.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904695" y="1904695"/>
            <a:ext cx="9335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完整持有．專業經營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904695" y="2190902"/>
            <a:ext cx="92208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 is built on long-term planning, structured governance, and professional football standards — not short-term results.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9751" y="3347618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904695" y="3143707"/>
            <a:ext cx="9258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NON-NEGOTIABLES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904695" y="3429000"/>
            <a:ext cx="9335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不可妥協的核心價值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904695" y="3715207"/>
            <a:ext cx="9258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Player-first decisions, strict discipline, and long-term credibility guide every action we take.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9751" y="4967021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904695" y="4667098"/>
            <a:ext cx="5353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PROOF: ELITE TECHNICAL LEADERSHIP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904695" y="4953305"/>
            <a:ext cx="5429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證據：菁英技術領導與長期規劃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904695" y="5134357"/>
            <a:ext cx="8910290" cy="704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invest in world-class expertise to build our system. Appointed AFC Pro License coach </a:t>
            </a:r>
            <a:r>
              <a:rPr lang="en-US" sz="1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Hiu-Ming Chan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Technical Consultant to drive our long-term development blueprint.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3813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圖片 32">
            <a:extLst>
              <a:ext uri="{FF2B5EF4-FFF2-40B4-BE49-F238E27FC236}">
                <a16:creationId xmlns:a16="http://schemas.microsoft.com/office/drawing/2014/main" id="{BDBF0B98-B7C6-1761-4E6F-3E9CC1D5C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09" y="0"/>
            <a:ext cx="12223004" cy="81526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1309" y="0"/>
            <a:ext cx="12191695" cy="6858000"/>
          </a:xfrm>
          <a:prstGeom prst="rect">
            <a:avLst/>
          </a:prstGeom>
          <a:solidFill>
            <a:srgbClr val="0E1428">
              <a:alpha val="6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9334195" y="0"/>
            <a:ext cx="2857500" cy="14264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761695" y="3047695"/>
            <a:ext cx="10668305" cy="3840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761695" y="4953305"/>
            <a:ext cx="10668305" cy="19202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 t="-398" b="-398"/>
          <a:stretch/>
        </p:blipFill>
        <p:spPr>
          <a:xfrm>
            <a:off x="761695" y="3047695"/>
            <a:ext cx="7239305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571500"/>
            <a:ext cx="7810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FOOTPRINT</a:t>
            </a:r>
            <a:endParaRPr lang="en-US" sz="3600" dirty="0"/>
          </a:p>
        </p:txBody>
      </p:sp>
      <p:sp>
        <p:nvSpPr>
          <p:cNvPr id="11" name="Text 4"/>
          <p:cNvSpPr txBox="1"/>
          <p:nvPr/>
        </p:nvSpPr>
        <p:spPr>
          <a:xfrm>
            <a:off x="761695" y="1143000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競技版圖與里程碑</a:t>
            </a:r>
            <a:endParaRPr lang="en-US" sz="1800" dirty="0"/>
          </a:p>
        </p:txBody>
      </p:sp>
      <p:sp>
        <p:nvSpPr>
          <p:cNvPr id="12" name="Text 5"/>
          <p:cNvSpPr txBox="1"/>
          <p:nvPr/>
        </p:nvSpPr>
        <p:spPr>
          <a:xfrm>
            <a:off x="761695" y="2095805"/>
            <a:ext cx="3048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</a:t>
            </a:r>
            <a:endParaRPr lang="en-US" sz="5400" dirty="0"/>
          </a:p>
        </p:txBody>
      </p:sp>
      <p:sp>
        <p:nvSpPr>
          <p:cNvPr id="13" name="Shape 6"/>
          <p:cNvSpPr/>
          <p:nvPr/>
        </p:nvSpPr>
        <p:spPr>
          <a:xfrm>
            <a:off x="761695" y="2971800"/>
            <a:ext cx="247802" cy="247802"/>
          </a:xfrm>
          <a:prstGeom prst="ellipse">
            <a:avLst/>
          </a:prstGeom>
          <a:solidFill>
            <a:srgbClr val="FF007F"/>
          </a:solidFill>
          <a:ln w="38100">
            <a:solidFill>
              <a:srgbClr val="0E142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709036" y="3295498"/>
            <a:ext cx="342900" cy="3044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333195" y="3238805"/>
            <a:ext cx="2362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DIVISION 2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1333195" y="3810305"/>
            <a:ext cx="246888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乙級聯賽冠軍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4381805" y="2095805"/>
            <a:ext cx="3048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5400" dirty="0"/>
          </a:p>
        </p:txBody>
      </p:sp>
      <p:sp>
        <p:nvSpPr>
          <p:cNvPr id="18" name="Shape 10"/>
          <p:cNvSpPr/>
          <p:nvPr/>
        </p:nvSpPr>
        <p:spPr>
          <a:xfrm>
            <a:off x="4381805" y="2971800"/>
            <a:ext cx="247802" cy="247802"/>
          </a:xfrm>
          <a:prstGeom prst="ellipse">
            <a:avLst/>
          </a:prstGeom>
          <a:solidFill>
            <a:srgbClr val="FF007F"/>
          </a:solidFill>
          <a:ln w="38100">
            <a:solidFill>
              <a:srgbClr val="0E142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4329146" y="3295498"/>
            <a:ext cx="342900" cy="3044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953305" y="3238805"/>
            <a:ext cx="2362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PROMOTED TO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DIVISION ONE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4953305" y="3810305"/>
            <a:ext cx="246888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晉級甲級</a:t>
            </a:r>
            <a:endParaRPr lang="en-US" sz="1300" dirty="0"/>
          </a:p>
        </p:txBody>
      </p:sp>
      <p:sp>
        <p:nvSpPr>
          <p:cNvPr id="22" name="Text 13"/>
          <p:cNvSpPr txBox="1"/>
          <p:nvPr/>
        </p:nvSpPr>
        <p:spPr>
          <a:xfrm>
            <a:off x="8001000" y="2095805"/>
            <a:ext cx="3048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5400" dirty="0"/>
          </a:p>
        </p:txBody>
      </p:sp>
      <p:sp>
        <p:nvSpPr>
          <p:cNvPr id="23" name="Shape 14"/>
          <p:cNvSpPr/>
          <p:nvPr/>
        </p:nvSpPr>
        <p:spPr>
          <a:xfrm>
            <a:off x="8001000" y="2971800"/>
            <a:ext cx="247802" cy="247802"/>
          </a:xfrm>
          <a:prstGeom prst="ellipse">
            <a:avLst/>
          </a:prstGeom>
          <a:noFill/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07" r="-107"/>
          <a:stretch/>
        </p:blipFill>
        <p:spPr>
          <a:xfrm>
            <a:off x="7985919" y="3320550"/>
            <a:ext cx="267005" cy="30449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572500" y="3238805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TAIWAN PREMIER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LEAGUE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8572500" y="3810305"/>
            <a:ext cx="3429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企業甲級聯賽出戰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761695" y="5333695"/>
            <a:ext cx="4862779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THAT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PROVES THE SYSTEM</a:t>
            </a:r>
            <a:endParaRPr lang="en-US" sz="2100" dirty="0"/>
          </a:p>
        </p:txBody>
      </p:sp>
      <p:sp>
        <p:nvSpPr>
          <p:cNvPr id="28" name="Text 18"/>
          <p:cNvSpPr txBox="1"/>
          <p:nvPr/>
        </p:nvSpPr>
        <p:spPr>
          <a:xfrm>
            <a:off x="761695" y="6068873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用成績證明系統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715000" y="5333695"/>
            <a:ext cx="57936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progression across age groups and first team.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5715000" y="6038698"/>
            <a:ext cx="5906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CCC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一線隊與年齡梯隊穩定進步。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11259007" y="6476695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114300"/>
            <a:ext cx="12191695" cy="1218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1476756"/>
            <a:ext cx="5201107" cy="2476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1476756"/>
            <a:ext cx="57607" cy="247619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6286500" y="1476756"/>
            <a:ext cx="5201107" cy="2476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6286500" y="1476756"/>
            <a:ext cx="57607" cy="2476195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 l="120" t="63396" r="-120" b="9824"/>
          <a:stretch>
            <a:fillRect/>
          </a:stretch>
        </p:blipFill>
        <p:spPr>
          <a:xfrm>
            <a:off x="761695" y="4381805"/>
            <a:ext cx="10668305" cy="19046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" y="381305"/>
            <a:ext cx="7810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MAKES TCRFC DIFFERENT</a:t>
            </a:r>
            <a:endParaRPr lang="en-US" sz="31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857707"/>
            <a:ext cx="7810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我們的差異化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0401300" y="571500"/>
            <a:ext cx="1028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307" y="1723644"/>
            <a:ext cx="304495" cy="3044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24305" y="1666951"/>
            <a:ext cx="4305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PLAYER-CENTERED SYSTEM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1952244"/>
            <a:ext cx="4381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以球員為核心的系統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47902" y="23810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TCRFC, development comes before exposure. Structure comes before scale.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47902" y="2915107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培育優先於曝光，結構優先於規模，每一項決策皆以球員的長期成長為核心。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6572707" y="1723644"/>
            <a:ext cx="38130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8195" y="1666951"/>
            <a:ext cx="4305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BALANCE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048195" y="1952244"/>
            <a:ext cx="4381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平衡：紀律與創造力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572707" y="2381098"/>
            <a:ext cx="4648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seek the perfect balance: Discipline × Creativity; Data × Humanity.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572707" y="2915107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我們尋求完美的平衡：紀律×創造力；數據×人性化。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3813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1714500"/>
            <a:ext cx="5143500" cy="20381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1714500"/>
            <a:ext cx="5143500" cy="38405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6286500" y="1714500"/>
            <a:ext cx="5143500" cy="20381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6286500" y="1714500"/>
            <a:ext cx="5143500" cy="3840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761695" y="3905402"/>
            <a:ext cx="5143500" cy="20381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761695" y="3905402"/>
            <a:ext cx="5143500" cy="3840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9"/>
          <p:cNvSpPr/>
          <p:nvPr/>
        </p:nvSpPr>
        <p:spPr>
          <a:xfrm>
            <a:off x="6286500" y="3905402"/>
            <a:ext cx="5143500" cy="20381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2" name="Shape 10"/>
          <p:cNvSpPr/>
          <p:nvPr/>
        </p:nvSpPr>
        <p:spPr>
          <a:xfrm>
            <a:off x="6286500" y="3905402"/>
            <a:ext cx="5143500" cy="38405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11"/>
          <p:cNvSpPr/>
          <p:nvPr/>
        </p:nvSpPr>
        <p:spPr>
          <a:xfrm>
            <a:off x="761695" y="6096305"/>
            <a:ext cx="10668305" cy="571500"/>
          </a:xfrm>
          <a:prstGeom prst="roundRect">
            <a:avLst>
              <a:gd name="adj" fmla="val 21333"/>
            </a:avLst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1695" y="286207"/>
            <a:ext cx="7810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 DEVELOPMENT MODEL</a:t>
            </a:r>
            <a:endParaRPr lang="en-US" sz="31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球員培育模型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3000" y="2018995"/>
            <a:ext cx="381305" cy="3813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809598" y="200070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&amp; TACTICAL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809598" y="2276856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技術與戰術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809598" y="2667305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Mastery of ball control, passing accuracy, and deep understanding of tactical formations.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7805" y="2018995"/>
            <a:ext cx="381305" cy="3813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34402" y="2000707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FITNESS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334402" y="2276856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專業體能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7334402" y="2667305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conditioning, speed work, strength training, and injury prevention protocols.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7" r="-17"/>
          <a:stretch/>
        </p:blipFill>
        <p:spPr>
          <a:xfrm>
            <a:off x="1166774" y="4209898"/>
            <a:ext cx="333756" cy="3813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809598" y="419069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INTELLIGENCE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809598" y="4466844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比賽判讀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809598" y="4858207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making under pressure, spatial awareness, and reading the game flow.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67805" y="4209898"/>
            <a:ext cx="381305" cy="3813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34402" y="4190695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MENTAL RESILIENCE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34402" y="4466844"/>
            <a:ext cx="400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心理韌性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334402" y="4858207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Discipline, leadership, emotional control, and developing a growth mindset.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047902" y="6238951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SUPPORTED BY: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2667305" y="6267298"/>
            <a:ext cx="152705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2952598" y="6238951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Video Analysis 影片分析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5619902" y="6267298"/>
            <a:ext cx="152705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905195" y="6238951"/>
            <a:ext cx="2510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Positional Profiles 位置輪廓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8572500" y="6267298"/>
            <a:ext cx="105156" cy="13350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858707" y="6238951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IDPs 個人發展計畫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3887" r="13887"/>
          <a:stretch/>
        </p:blipFill>
        <p:spPr>
          <a:xfrm>
            <a:off x="0" y="0"/>
            <a:ext cx="495330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4953305" cy="6858000"/>
          </a:xfrm>
          <a:prstGeom prst="rect">
            <a:avLst/>
          </a:prstGeom>
          <a:solidFill>
            <a:srgbClr val="0E142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4953305" y="0"/>
            <a:ext cx="95098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24805" y="2857500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4"/>
          <p:cNvSpPr/>
          <p:nvPr/>
        </p:nvSpPr>
        <p:spPr>
          <a:xfrm>
            <a:off x="8858707" y="2857500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5"/>
          <p:cNvSpPr/>
          <p:nvPr/>
        </p:nvSpPr>
        <p:spPr>
          <a:xfrm>
            <a:off x="5524805" y="3810305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6"/>
          <p:cNvSpPr/>
          <p:nvPr/>
        </p:nvSpPr>
        <p:spPr>
          <a:xfrm>
            <a:off x="8858707" y="3810305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7"/>
          <p:cNvSpPr/>
          <p:nvPr/>
        </p:nvSpPr>
        <p:spPr>
          <a:xfrm>
            <a:off x="5524805" y="4953305"/>
            <a:ext cx="6096305" cy="1285646"/>
          </a:xfrm>
          <a:prstGeom prst="roundRect">
            <a:avLst>
              <a:gd name="adj" fmla="val 4215"/>
            </a:avLst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409" r="-409"/>
          <a:stretch/>
        </p:blipFill>
        <p:spPr>
          <a:xfrm>
            <a:off x="5524805" y="4953305"/>
            <a:ext cx="57607" cy="128564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24805" y="523951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FOOTBALL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5524805" y="1190549"/>
            <a:ext cx="6382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超越足球：培養完整的人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524805" y="1666951"/>
            <a:ext cx="61722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Developing Complete Individuals. We support players beyond the pitch through language learning, nutrition guidance, lifestyle discipline, and international readiness.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67451" y="3004718"/>
            <a:ext cx="333756" cy="2670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86500" y="2905049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Language Learning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286500" y="3110789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語言學習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881" r="-881"/>
          <a:stretch/>
        </p:blipFill>
        <p:spPr>
          <a:xfrm>
            <a:off x="9025128" y="3004718"/>
            <a:ext cx="237744" cy="2670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20402" y="2905049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Guidance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9620402" y="3110789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營養管理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76595" y="3957523"/>
            <a:ext cx="267005" cy="2670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86500" y="3857854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Lifestyle Discipline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6286500" y="4063594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生活紀律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010498" y="3957523"/>
            <a:ext cx="267005" cy="2670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20402" y="3857854"/>
            <a:ext cx="25402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Readiness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9620402" y="4063594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國際適應力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5905195" y="5095951"/>
            <a:ext cx="5448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5905195" y="5423306"/>
            <a:ext cx="54105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Players who lead on and off the pitch.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成果：場上場下皆能領導。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11259007" y="6381598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8DE679-87A5-21FB-1453-9A850EFBE3C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289" r="31135"/>
          <a:stretch>
            <a:fillRect/>
          </a:stretch>
        </p:blipFill>
        <p:spPr>
          <a:xfrm>
            <a:off x="-1378914" y="0"/>
            <a:ext cx="63313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0287000" y="6476695"/>
            <a:ext cx="1904695" cy="381305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333195" y="3810305"/>
            <a:ext cx="9525305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03" b="-403"/>
          <a:stretch/>
        </p:blipFill>
        <p:spPr>
          <a:xfrm>
            <a:off x="1333195" y="3810305"/>
            <a:ext cx="2381098" cy="384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03" b="-403"/>
          <a:stretch/>
        </p:blipFill>
        <p:spPr>
          <a:xfrm>
            <a:off x="3715207" y="3810305"/>
            <a:ext cx="2381098" cy="3840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t="-403" b="-403"/>
          <a:stretch/>
        </p:blipFill>
        <p:spPr>
          <a:xfrm>
            <a:off x="6096305" y="3810305"/>
            <a:ext cx="2381098" cy="3840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 t="-403" b="-403"/>
          <a:stretch/>
        </p:blipFill>
        <p:spPr>
          <a:xfrm>
            <a:off x="8477402" y="3810305"/>
            <a:ext cx="2381098" cy="3840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1333195" y="3696005"/>
            <a:ext cx="342900" cy="3429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007F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5"/>
          <p:cNvSpPr/>
          <p:nvPr/>
        </p:nvSpPr>
        <p:spPr>
          <a:xfrm>
            <a:off x="4000500" y="3696005"/>
            <a:ext cx="342900" cy="3429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007F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Shape 6"/>
          <p:cNvSpPr/>
          <p:nvPr/>
        </p:nvSpPr>
        <p:spPr>
          <a:xfrm>
            <a:off x="6667805" y="3696005"/>
            <a:ext cx="342900" cy="3429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007F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7"/>
          <p:cNvSpPr/>
          <p:nvPr/>
        </p:nvSpPr>
        <p:spPr>
          <a:xfrm>
            <a:off x="2286000" y="5905195"/>
            <a:ext cx="7677302" cy="571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6" name="Shape 8"/>
          <p:cNvSpPr/>
          <p:nvPr/>
        </p:nvSpPr>
        <p:spPr>
          <a:xfrm>
            <a:off x="2286000" y="5905195"/>
            <a:ext cx="57607" cy="571500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34195" y="3619195"/>
            <a:ext cx="495605" cy="4956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61695" y="286207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PATHWAY</a:t>
            </a:r>
            <a:endParaRPr lang="en-US" sz="3600" dirty="0"/>
          </a:p>
        </p:txBody>
      </p:sp>
      <p:sp>
        <p:nvSpPr>
          <p:cNvPr id="19" name="Text 10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成長路徑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761695" y="1714500"/>
            <a:ext cx="10782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clear, structured journey from local beginnings to global opportunities.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761695" y="2082089"/>
            <a:ext cx="10858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清晰且可持續的成長路徑：從在地啟蒙到國際舞台。</a:t>
            </a:r>
            <a:endParaRPr lang="en-US" sz="15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14907" y="3057754"/>
            <a:ext cx="304495" cy="30449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24205" y="419069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GRASSROOTS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701345" y="44577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基層培訓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731520" y="4858207"/>
            <a:ext cx="15855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programs &amp; school partnerships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701345" y="526877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社區計畫與校園合作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 l="-90" r="-90"/>
          <a:stretch/>
        </p:blipFill>
        <p:spPr>
          <a:xfrm>
            <a:off x="4003306" y="3057754"/>
            <a:ext cx="381305" cy="304495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390595" y="419069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</a:t>
            </a:r>
            <a:endParaRPr lang="en-US" sz="1500" dirty="0"/>
          </a:p>
        </p:txBody>
      </p:sp>
      <p:sp>
        <p:nvSpPr>
          <p:cNvPr id="29" name="Text 18"/>
          <p:cNvSpPr txBox="1"/>
          <p:nvPr/>
        </p:nvSpPr>
        <p:spPr>
          <a:xfrm>
            <a:off x="3367735" y="44577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青訓系統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3398825" y="4858207"/>
            <a:ext cx="15855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U-Teams &amp; elite development squads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3367735" y="5268773"/>
            <a:ext cx="16459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年齡梯隊與菁英培訓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l="-90" r="-90"/>
          <a:stretch/>
        </p:blipFill>
        <p:spPr>
          <a:xfrm>
            <a:off x="6648602" y="3057754"/>
            <a:ext cx="381305" cy="30449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057900" y="419069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TEAM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6035040" y="44577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一線隊</a:t>
            </a:r>
            <a:endParaRPr lang="en-US" sz="1200" dirty="0"/>
          </a:p>
        </p:txBody>
      </p:sp>
      <p:sp>
        <p:nvSpPr>
          <p:cNvPr id="35" name="Text 23"/>
          <p:cNvSpPr txBox="1"/>
          <p:nvPr/>
        </p:nvSpPr>
        <p:spPr>
          <a:xfrm>
            <a:off x="6065215" y="4858207"/>
            <a:ext cx="158557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Premier League competition &amp; professional mindset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6065215" y="5455310"/>
            <a:ext cx="158557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企業甲級聯賽競爭與職業心態</a:t>
            </a:r>
            <a:endParaRPr lang="en-US" sz="9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rcRect l="-1282" r="-1282"/>
          <a:stretch/>
        </p:blipFill>
        <p:spPr>
          <a:xfrm>
            <a:off x="9476929" y="3753975"/>
            <a:ext cx="219456" cy="190195"/>
          </a:xfrm>
          <a:prstGeom prst="rect">
            <a:avLst/>
          </a:prstGeom>
        </p:spPr>
      </p:pic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408449" y="3057754"/>
            <a:ext cx="304495" cy="3044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435340" y="4190695"/>
            <a:ext cx="2179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</a:t>
            </a:r>
            <a:endParaRPr lang="en-US" sz="1500" dirty="0"/>
          </a:p>
        </p:txBody>
      </p:sp>
      <p:sp>
        <p:nvSpPr>
          <p:cNvPr id="40" name="Text 26"/>
          <p:cNvSpPr txBox="1"/>
          <p:nvPr/>
        </p:nvSpPr>
        <p:spPr>
          <a:xfrm>
            <a:off x="8393278" y="4457700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國際發展</a:t>
            </a:r>
            <a:endParaRPr lang="en-US" sz="1200" dirty="0"/>
          </a:p>
        </p:txBody>
      </p:sp>
      <p:sp>
        <p:nvSpPr>
          <p:cNvPr id="41" name="Text 27"/>
          <p:cNvSpPr txBox="1"/>
          <p:nvPr/>
        </p:nvSpPr>
        <p:spPr>
          <a:xfrm>
            <a:off x="8438998" y="4858207"/>
            <a:ext cx="21717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Exchanges, trials &amp; professional contracts abroad</a:t>
            </a:r>
            <a:endParaRPr lang="en-US" sz="1000" dirty="0"/>
          </a:p>
        </p:txBody>
      </p:sp>
      <p:sp>
        <p:nvSpPr>
          <p:cNvPr id="42" name="Text 28"/>
          <p:cNvSpPr txBox="1"/>
          <p:nvPr/>
        </p:nvSpPr>
        <p:spPr>
          <a:xfrm>
            <a:off x="8393278" y="5268773"/>
            <a:ext cx="22631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海外交流、試訓與職業合約</a:t>
            </a:r>
            <a:endParaRPr lang="en-US" sz="900" dirty="0"/>
          </a:p>
        </p:txBody>
      </p:sp>
      <p:sp>
        <p:nvSpPr>
          <p:cNvPr id="43" name="Text 29"/>
          <p:cNvSpPr txBox="1"/>
          <p:nvPr/>
        </p:nvSpPr>
        <p:spPr>
          <a:xfrm>
            <a:off x="2476195" y="5951103"/>
            <a:ext cx="73536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GATEWAYS: Exchanges, trials, scouting showcases.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通道：交流、試訓、球探觀察</a:t>
            </a:r>
            <a:r>
              <a:rPr lang="en-US" sz="1200" b="1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200" dirty="0"/>
          </a:p>
        </p:txBody>
      </p:sp>
      <p:sp>
        <p:nvSpPr>
          <p:cNvPr id="44" name="Text 30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l="11798" r="40050"/>
          <a:stretch>
            <a:fillRect/>
          </a:stretch>
        </p:blipFill>
        <p:spPr>
          <a:xfrm>
            <a:off x="0" y="0"/>
            <a:ext cx="4953305" cy="6858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4953305" y="0"/>
            <a:ext cx="95098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24805" y="3905402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4"/>
          <p:cNvSpPr/>
          <p:nvPr/>
        </p:nvSpPr>
        <p:spPr>
          <a:xfrm>
            <a:off x="5524805" y="4762195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5"/>
          <p:cNvSpPr/>
          <p:nvPr/>
        </p:nvSpPr>
        <p:spPr>
          <a:xfrm>
            <a:off x="5524805" y="5619902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6"/>
          <p:cNvSpPr txBox="1"/>
          <p:nvPr/>
        </p:nvSpPr>
        <p:spPr>
          <a:xfrm>
            <a:off x="5524805" y="523951"/>
            <a:ext cx="63825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GRASSROOTS &amp; YOUTH</a:t>
            </a:r>
            <a:endParaRPr lang="en-US" sz="3300" dirty="0"/>
          </a:p>
        </p:txBody>
      </p:sp>
      <p:sp>
        <p:nvSpPr>
          <p:cNvPr id="11" name="Text 7"/>
          <p:cNvSpPr txBox="1"/>
          <p:nvPr/>
        </p:nvSpPr>
        <p:spPr>
          <a:xfrm>
            <a:off x="5524805" y="1190549"/>
            <a:ext cx="6382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基層與青訓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5524805" y="1762049"/>
            <a:ext cx="62106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Football from the Ground Up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524805" y="2097634"/>
            <a:ext cx="6286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從基層扎根足球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524805" y="2523744"/>
            <a:ext cx="62682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 works closely with elementary schools, junior &amp; senior high schools, and universities to nurture talent early and responsibly.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524805" y="3114446"/>
            <a:ext cx="6382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TCRFC 與國小、國中、高中及大專院校合作，從早期階段有系統地培育足球人才。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667451" y="4073101"/>
            <a:ext cx="286207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86500" y="3952951"/>
            <a:ext cx="3924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Sessions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86500" y="4158691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社區訓練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5682082" y="4930808"/>
            <a:ext cx="256946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86500" y="4809744"/>
            <a:ext cx="3924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U-Team Selections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286500" y="5015484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菁英選拔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5667451" y="5787601"/>
            <a:ext cx="286207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286500" y="5667451"/>
            <a:ext cx="3924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Education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286500" y="5873191"/>
            <a:ext cx="4000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教練培訓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259007" y="6381598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2762402"/>
            <a:ext cx="3238805" cy="34866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2762402"/>
            <a:ext cx="3238805" cy="576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4476902" y="2762402"/>
            <a:ext cx="3238805" cy="34866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4476902" y="2762402"/>
            <a:ext cx="3238805" cy="57607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8191195" y="2762402"/>
            <a:ext cx="3238805" cy="34866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8191195" y="2762402"/>
            <a:ext cx="3238805" cy="576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00707" y="2952598"/>
            <a:ext cx="761695" cy="761695"/>
          </a:xfrm>
          <a:prstGeom prst="ellipse">
            <a:avLst/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10"/>
          <p:cNvSpPr/>
          <p:nvPr/>
        </p:nvSpPr>
        <p:spPr>
          <a:xfrm>
            <a:off x="5715000" y="2952598"/>
            <a:ext cx="761695" cy="761695"/>
          </a:xfrm>
          <a:prstGeom prst="ellipse">
            <a:avLst/>
          </a:prstGeom>
          <a:solidFill>
            <a:srgbClr val="E6E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Shape 11"/>
          <p:cNvSpPr/>
          <p:nvPr/>
        </p:nvSpPr>
        <p:spPr>
          <a:xfrm>
            <a:off x="9430207" y="2952598"/>
            <a:ext cx="761695" cy="761695"/>
          </a:xfrm>
          <a:prstGeom prst="ellipse">
            <a:avLst/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2"/>
          <p:cNvSpPr txBox="1"/>
          <p:nvPr/>
        </p:nvSpPr>
        <p:spPr>
          <a:xfrm>
            <a:off x="761695" y="286207"/>
            <a:ext cx="7810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CAMPS &amp; PROGRAMS</a:t>
            </a:r>
            <a:endParaRPr lang="en-US" sz="31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訓練營與專案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1714500"/>
            <a:ext cx="107442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Seasonal summer and winter camps provide focused training environments that emphasize discipline, teamwork, and performance mindset. </a:t>
            </a:r>
            <a:endParaRPr lang="en-US" sz="15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寒暑期訓練營提供高品質、具紀律性的培訓環境，強化團隊精神與競技心態。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10105" y="3159978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95198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 CLINICS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57707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專位診斷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009498" y="4524451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Focused technical drills for goalkeepers, defenders, midfielders, and strikers.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009498" y="535106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針對守門員、後衛、中場與前鋒的專項技術訓練。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743" r="-743"/>
          <a:stretch/>
        </p:blipFill>
        <p:spPr>
          <a:xfrm>
            <a:off x="5943600" y="3159978"/>
            <a:ext cx="304495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610405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HIGH-PERFORMANCE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高強度週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724705" y="4524451"/>
            <a:ext cx="2743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Intensive conditioning and tactical immersion for elite preparation.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4724705" y="51069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為菁英備戰設計的高強度體能與戰術沉浸課程。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743" r="-743"/>
          <a:stretch/>
        </p:blipFill>
        <p:spPr>
          <a:xfrm>
            <a:off x="9658807" y="3159978"/>
            <a:ext cx="304495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4698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 BREAK CAMPS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287207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學期空檔營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438998" y="4524451"/>
            <a:ext cx="2743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training during holidays to maintain fitness and sharpness.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8382305" y="5351069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利用假期維持體能與球感的系統化訓練。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571957" y="-113386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0287000" y="6476695"/>
            <a:ext cx="1904695" cy="381305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6096305" y="2095805"/>
            <a:ext cx="19202" cy="381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4190695"/>
            <a:ext cx="4990795" cy="1714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Shape 5"/>
          <p:cNvSpPr/>
          <p:nvPr/>
        </p:nvSpPr>
        <p:spPr>
          <a:xfrm>
            <a:off x="761695" y="4190695"/>
            <a:ext cx="38405" cy="1714500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6"/>
          <p:cNvSpPr/>
          <p:nvPr/>
        </p:nvSpPr>
        <p:spPr>
          <a:xfrm>
            <a:off x="6667805" y="4190695"/>
            <a:ext cx="4990795" cy="1714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11" name="Shape 7"/>
          <p:cNvSpPr/>
          <p:nvPr/>
        </p:nvSpPr>
        <p:spPr>
          <a:xfrm>
            <a:off x="6667805" y="4190695"/>
            <a:ext cx="38405" cy="1714500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8"/>
          <p:cNvSpPr txBox="1"/>
          <p:nvPr/>
        </p:nvSpPr>
        <p:spPr>
          <a:xfrm>
            <a:off x="761695" y="190195"/>
            <a:ext cx="7810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EXPOSURE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國際舞台接軌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GLOBAL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PATHWAYS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2952598"/>
            <a:ext cx="4839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 provides players with international matches, exchanges, and scouting exposure in regions including Japan, Hong Kong, Germany,  and Italy.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238805" y="4334256"/>
            <a:ext cx="22786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PROOF: ITALY TRAINING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238805" y="4623206"/>
            <a:ext cx="22677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players invited to train with Legnago Salus (Italy) and ongoing relationships with clubs like Hellas Verona.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66780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真正的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國際舞台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6667805" y="2952598"/>
            <a:ext cx="4839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TCRFC 安排球員參與日本、香港、義大利等地的國際比賽、交流與球探接軌。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953098" y="4334256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實證：義大利移地訓練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953098" y="4649724"/>
            <a:ext cx="44577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五位球員受邀赴義大利 Legnago Salus 訓練；持續拓展歐洲連結（如 Hellas Verona）。此為台灣球員罕見之高強度歐洲培訓機會。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05195" y="6029554"/>
            <a:ext cx="381305" cy="381305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90877B2D-3E79-44CC-8FDD-09303D9A1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4334256"/>
            <a:ext cx="2119629" cy="14130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b="20261"/>
          <a:stretch/>
        </p:blipFill>
        <p:spPr>
          <a:xfrm>
            <a:off x="0" y="0"/>
            <a:ext cx="495330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466801" y="1591056"/>
            <a:ext cx="4953305" cy="6858000"/>
          </a:xfrm>
          <a:prstGeom prst="rect">
            <a:avLst/>
          </a:prstGeom>
          <a:solidFill>
            <a:srgbClr val="0E142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4953305" y="0"/>
            <a:ext cx="95098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24805" y="3000146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4"/>
          <p:cNvSpPr/>
          <p:nvPr/>
        </p:nvSpPr>
        <p:spPr>
          <a:xfrm>
            <a:off x="8858707" y="3000146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5"/>
          <p:cNvSpPr/>
          <p:nvPr/>
        </p:nvSpPr>
        <p:spPr>
          <a:xfrm>
            <a:off x="5524805" y="3857854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6"/>
          <p:cNvSpPr/>
          <p:nvPr/>
        </p:nvSpPr>
        <p:spPr>
          <a:xfrm>
            <a:off x="8858707" y="3857854"/>
            <a:ext cx="571500" cy="571500"/>
          </a:xfrm>
          <a:prstGeom prst="ellipse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7"/>
          <p:cNvSpPr/>
          <p:nvPr/>
        </p:nvSpPr>
        <p:spPr>
          <a:xfrm>
            <a:off x="5524805" y="4714646"/>
            <a:ext cx="6096305" cy="1809598"/>
          </a:xfrm>
          <a:prstGeom prst="roundRect">
            <a:avLst>
              <a:gd name="adj" fmla="val 2128"/>
            </a:avLst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524805" y="4714646"/>
            <a:ext cx="57607" cy="180959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24805" y="523951"/>
            <a:ext cx="63349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PARTNERSHIPS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5524805" y="1476756"/>
            <a:ext cx="63825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國際合作夥伴：連結台灣與世界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5524805" y="1952244"/>
            <a:ext cx="617220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Taiwan with the world through technical consultancy, exchanges, and trial pathways. TCRFC connects local talent to global football networks.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775" r="-775"/>
          <a:stretch/>
        </p:blipFill>
        <p:spPr>
          <a:xfrm>
            <a:off x="5667451" y="3145536"/>
            <a:ext cx="314554" cy="2478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86500" y="3047695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Consultancy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286500" y="3253435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專業技術顧問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20556" y="3145536"/>
            <a:ext cx="247802" cy="2478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620402" y="3047695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Exchanges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9620402" y="3253435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國際交流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86654" y="4003243"/>
            <a:ext cx="247802" cy="2478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86500" y="3905402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Trial Pathways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6286500" y="4111142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試訓通道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020556" y="4003243"/>
            <a:ext cx="247802" cy="2478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620402" y="3905402"/>
            <a:ext cx="2477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Scouting Visibility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9620402" y="4111142"/>
            <a:ext cx="2572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球探曝光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5905195" y="4905756"/>
            <a:ext cx="5448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PROOF | 關鍵實證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5905195" y="5248656"/>
            <a:ext cx="54105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Technical Consultant </a:t>
            </a:r>
            <a:r>
              <a:rPr lang="en-US" sz="13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Hiu‑Ming Chan (AFC Pro)</a:t>
            </a: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appointed to guide the long‑term development blueprint. 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905195" y="5804611"/>
            <a:ext cx="5410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聘請擁有 AFC Pro 證照的陳曉明擔任技術顧問，協助建立長期發展藍圖。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1259007" y="6381598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58FF9368-D6E9-B435-5034-97C458DB99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26419" y="1"/>
            <a:ext cx="54863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333195" y="2476195"/>
            <a:ext cx="9525305" cy="384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4190695"/>
            <a:ext cx="5009998" cy="20958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7" name="Shape 4"/>
          <p:cNvSpPr/>
          <p:nvPr/>
        </p:nvSpPr>
        <p:spPr>
          <a:xfrm>
            <a:off x="761695" y="4190695"/>
            <a:ext cx="57607" cy="2095805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5"/>
          <p:cNvSpPr/>
          <p:nvPr/>
        </p:nvSpPr>
        <p:spPr>
          <a:xfrm>
            <a:off x="6001207" y="4190695"/>
            <a:ext cx="5486400" cy="20958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6001207" y="4190695"/>
            <a:ext cx="57607" cy="209580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1333195" y="2476195"/>
            <a:ext cx="3810305" cy="384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467405" y="1745896"/>
            <a:ext cx="1143000" cy="381305"/>
          </a:xfrm>
          <a:prstGeom prst="roundRect">
            <a:avLst>
              <a:gd name="adj" fmla="val 47962"/>
            </a:avLst>
          </a:prstGeom>
          <a:solidFill>
            <a:srgbClr val="FF007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Shape 8"/>
          <p:cNvSpPr/>
          <p:nvPr/>
        </p:nvSpPr>
        <p:spPr>
          <a:xfrm>
            <a:off x="3886200" y="2324405"/>
            <a:ext cx="342900" cy="342900"/>
          </a:xfrm>
          <a:prstGeom prst="ellipse">
            <a:avLst/>
          </a:prstGeom>
          <a:solidFill>
            <a:srgbClr val="FF007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9"/>
          <p:cNvSpPr/>
          <p:nvPr/>
        </p:nvSpPr>
        <p:spPr>
          <a:xfrm>
            <a:off x="1333195" y="2381098"/>
            <a:ext cx="228600" cy="228600"/>
          </a:xfrm>
          <a:prstGeom prst="ellipse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43807" y="2381098"/>
            <a:ext cx="228600" cy="228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048195" y="2381098"/>
            <a:ext cx="286207" cy="2862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Shape 11"/>
          <p:cNvSpPr/>
          <p:nvPr/>
        </p:nvSpPr>
        <p:spPr>
          <a:xfrm>
            <a:off x="9905695" y="2381098"/>
            <a:ext cx="286207" cy="2862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2"/>
          <p:cNvSpPr txBox="1"/>
          <p:nvPr/>
        </p:nvSpPr>
        <p:spPr>
          <a:xfrm>
            <a:off x="761695" y="2862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ACADEMY VISION 2026+</a:t>
            </a:r>
            <a:endParaRPr lang="en-US" sz="31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857707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 足球學院藍圖：打造未來的足球機構</a:t>
            </a:r>
            <a:endParaRPr lang="en-US" sz="1800" dirty="0"/>
          </a:p>
        </p:txBody>
      </p:sp>
      <p:sp>
        <p:nvSpPr>
          <p:cNvPr id="22" name="Text 14"/>
          <p:cNvSpPr txBox="1"/>
          <p:nvPr/>
        </p:nvSpPr>
        <p:spPr>
          <a:xfrm>
            <a:off x="914400" y="2000707"/>
            <a:ext cx="1067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2024-25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552298" y="2762402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555955" y="2991002"/>
            <a:ext cx="1783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Curriculum dev &amp; Pilot programs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522122" y="3409798"/>
            <a:ext cx="18516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課程開發與試辦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3429000" y="1821791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3066898" y="2762402"/>
            <a:ext cx="19815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LAUNCH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066898" y="3019349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Academy Registration &amp; First Intake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3029407" y="3457346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正式學院註冊與首屆招生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6629400" y="2000707"/>
            <a:ext cx="1067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267298" y="2762402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270955" y="2991002"/>
            <a:ext cx="1783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Multi-age squads &amp; Education support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6237122" y="3409798"/>
            <a:ext cx="18516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多年齡梯隊與教育整合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9486900" y="2000707"/>
            <a:ext cx="1067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2028+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9124798" y="2762402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9128455" y="2991002"/>
            <a:ext cx="178308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Partner facilities &amp; Full campus model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9094622" y="3409798"/>
            <a:ext cx="18516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夥伴場地與完整校區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1200607" y="4286707"/>
            <a:ext cx="44384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MOMENTUM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952805" y="4295851"/>
            <a:ext cx="171907" cy="15270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619195" y="466709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Ecosystem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3619195" y="4914900"/>
            <a:ext cx="19815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Building a digital library of training, matches, and culture to support academy recruitment.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3619195" y="5572354"/>
            <a:ext cx="1981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建立訓練、比賽與文化的數位資料庫，支援未來學院招生。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6191402" y="4286707"/>
            <a:ext cx="4877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PERFORMANCE INDICATORS </a:t>
            </a:r>
            <a:r>
              <a:rPr lang="en-US" sz="12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關鍵成功指標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191402" y="4667098"/>
            <a:ext cx="286207" cy="22860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572707" y="466709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Graduates Per Year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6572707" y="4839005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年度畢業生數量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8762695" y="4667098"/>
            <a:ext cx="286207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144000" y="4667098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Trials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9144000" y="4839005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國際試訓機會</a:t>
            </a:r>
            <a:endParaRPr lang="en-US" sz="9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6191402" y="5333695"/>
            <a:ext cx="286207" cy="22860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6572707" y="5333695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 Benchmarks</a:t>
            </a:r>
            <a:endParaRPr lang="en-US" sz="1000" dirty="0"/>
          </a:p>
        </p:txBody>
      </p:sp>
      <p:sp>
        <p:nvSpPr>
          <p:cNvPr id="52" name="Text 40"/>
          <p:cNvSpPr txBox="1"/>
          <p:nvPr/>
        </p:nvSpPr>
        <p:spPr>
          <a:xfrm>
            <a:off x="6572707" y="5505602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品格評估基準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1259007" y="6476695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682BD7EE-D246-55DB-06C6-89AED6FE06D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532" t="6001" r="782" b="569"/>
          <a:stretch>
            <a:fillRect/>
          </a:stretch>
        </p:blipFill>
        <p:spPr>
          <a:xfrm>
            <a:off x="1169165" y="4619549"/>
            <a:ext cx="2279037" cy="12774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5E36-9A2F-D4B3-909C-EAFEEC33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4670A7-FB3C-6AF0-EFB9-A259141A6EC5}"/>
              </a:ext>
            </a:extLst>
          </p:cNvPr>
          <p:cNvSpPr/>
          <p:nvPr/>
        </p:nvSpPr>
        <p:spPr>
          <a:xfrm>
            <a:off x="0" y="2093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1B636B-0D0D-36B9-2E0B-810F1DDFB533}"/>
              </a:ext>
            </a:extLst>
          </p:cNvPr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2023910D-B95E-C235-F107-8598A58B6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17F1CDDF-BC38-41A5-8AF4-2451AD5FEE9E}"/>
              </a:ext>
            </a:extLst>
          </p:cNvPr>
          <p:cNvSpPr txBox="1"/>
          <p:nvPr/>
        </p:nvSpPr>
        <p:spPr>
          <a:xfrm>
            <a:off x="761695" y="2862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/>
              </a:rPr>
              <a:t>BUILDING FOOTBALL CULTURE</a:t>
            </a:r>
            <a:r>
              <a:rPr lang="en-US" sz="3200" b="1" dirty="0">
                <a:latin typeface="Arial"/>
              </a:rPr>
              <a:t>.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BEF7A3E-89B3-A1FC-7FD0-1D475775D2CF}"/>
              </a:ext>
            </a:extLst>
          </p:cNvPr>
          <p:cNvSpPr txBox="1"/>
          <p:nvPr/>
        </p:nvSpPr>
        <p:spPr>
          <a:xfrm>
            <a:off x="761695" y="857707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Beyond the pitch</a:t>
            </a:r>
            <a:endParaRPr lang="en-US" sz="1800" dirty="0"/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D55A30A9-E8E9-27DB-187A-E483DE0A591A}"/>
              </a:ext>
            </a:extLst>
          </p:cNvPr>
          <p:cNvSpPr txBox="1"/>
          <p:nvPr/>
        </p:nvSpPr>
        <p:spPr>
          <a:xfrm>
            <a:off x="11259007" y="6476695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E1F9-AAFD-591C-39A8-A2B93B230015}"/>
              </a:ext>
            </a:extLst>
          </p:cNvPr>
          <p:cNvSpPr txBox="1"/>
          <p:nvPr/>
        </p:nvSpPr>
        <p:spPr>
          <a:xfrm>
            <a:off x="658368" y="1417320"/>
            <a:ext cx="798968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latin typeface="Arial"/>
              </a:rPr>
              <a:t>TCRFC is creating more ways for young players, families, supporters and partners to belong to the brand</a:t>
            </a:r>
            <a:r>
              <a:rPr sz="1300" b="0" dirty="0">
                <a:solidFill>
                  <a:srgbClr val="A0A0A5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58B361E-1B66-C5B5-1ED9-977BED9AEAA8}"/>
              </a:ext>
            </a:extLst>
          </p:cNvPr>
          <p:cNvSpPr/>
          <p:nvPr/>
        </p:nvSpPr>
        <p:spPr>
          <a:xfrm>
            <a:off x="640080" y="2036106"/>
            <a:ext cx="2560320" cy="1646877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88BF35-F706-DD90-8608-366951C73245}"/>
              </a:ext>
            </a:extLst>
          </p:cNvPr>
          <p:cNvSpPr txBox="1"/>
          <p:nvPr/>
        </p:nvSpPr>
        <p:spPr>
          <a:xfrm>
            <a:off x="850392" y="2218986"/>
            <a:ext cx="2139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C21CE"/>
                </a:solidFill>
                <a:latin typeface="Arial"/>
              </a:rPr>
              <a:t>MANGA / COMIC IP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91FACC-6743-71B7-03D7-F4C8318E18E2}"/>
              </a:ext>
            </a:extLst>
          </p:cNvPr>
          <p:cNvSpPr txBox="1"/>
          <p:nvPr/>
        </p:nvSpPr>
        <p:spPr>
          <a:xfrm>
            <a:off x="850392" y="2676186"/>
            <a:ext cx="2186817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A manga-style character-based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comic series created to promote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 the Academy, with potential to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develop as an independent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content property.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4AC38E7-6FFA-9DB7-4EAC-CA58518FCF68}"/>
              </a:ext>
            </a:extLst>
          </p:cNvPr>
          <p:cNvSpPr/>
          <p:nvPr/>
        </p:nvSpPr>
        <p:spPr>
          <a:xfrm>
            <a:off x="677664" y="3827324"/>
            <a:ext cx="2560320" cy="1646877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AA0A83-664C-4F27-A131-A02E492E23F6}"/>
              </a:ext>
            </a:extLst>
          </p:cNvPr>
          <p:cNvSpPr txBox="1"/>
          <p:nvPr/>
        </p:nvSpPr>
        <p:spPr>
          <a:xfrm>
            <a:off x="887976" y="4010204"/>
            <a:ext cx="2139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0FD2DA"/>
                </a:solidFill>
                <a:latin typeface="Arial"/>
              </a:rPr>
              <a:t>CLUB MERCH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2EF25E-4918-9663-0CAD-7711BA0BBA99}"/>
              </a:ext>
            </a:extLst>
          </p:cNvPr>
          <p:cNvSpPr txBox="1"/>
          <p:nvPr/>
        </p:nvSpPr>
        <p:spPr>
          <a:xfrm>
            <a:off x="887976" y="4467404"/>
            <a:ext cx="2318263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TCRFC merchandise designed to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strengthen club identity, visibility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and supporter pride.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34DCC49-6A29-7B03-2B17-C1BD73803337}"/>
              </a:ext>
            </a:extLst>
          </p:cNvPr>
          <p:cNvSpPr/>
          <p:nvPr/>
        </p:nvSpPr>
        <p:spPr>
          <a:xfrm>
            <a:off x="3345708" y="2036106"/>
            <a:ext cx="2560320" cy="1646877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8AE99E-A935-A642-D173-A085384980BD}"/>
              </a:ext>
            </a:extLst>
          </p:cNvPr>
          <p:cNvSpPr txBox="1"/>
          <p:nvPr/>
        </p:nvSpPr>
        <p:spPr>
          <a:xfrm>
            <a:off x="3556020" y="2218986"/>
            <a:ext cx="2139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7AC743"/>
                </a:solidFill>
                <a:latin typeface="Arial"/>
              </a:rPr>
              <a:t>ACADEMY MERCH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31D223-372A-58E0-353B-486EDB781971}"/>
              </a:ext>
            </a:extLst>
          </p:cNvPr>
          <p:cNvSpPr txBox="1"/>
          <p:nvPr/>
        </p:nvSpPr>
        <p:spPr>
          <a:xfrm>
            <a:off x="3556020" y="2676186"/>
            <a:ext cx="2250937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Youth-focused merchandise that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creates belonging among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Academy players and families.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9FF890DF-B834-F9CC-39F3-AC980EF60F66}"/>
              </a:ext>
            </a:extLst>
          </p:cNvPr>
          <p:cNvSpPr/>
          <p:nvPr/>
        </p:nvSpPr>
        <p:spPr>
          <a:xfrm>
            <a:off x="3383292" y="3814798"/>
            <a:ext cx="2560320" cy="1646877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C72871-EAB3-2B7A-7C00-618A9608C96F}"/>
              </a:ext>
            </a:extLst>
          </p:cNvPr>
          <p:cNvSpPr txBox="1"/>
          <p:nvPr/>
        </p:nvSpPr>
        <p:spPr>
          <a:xfrm>
            <a:off x="3593604" y="3997678"/>
            <a:ext cx="21396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EF82D5"/>
                </a:solidFill>
                <a:latin typeface="Arial"/>
              </a:rPr>
              <a:t>FAN CLUB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7FF5B6-E064-DFB4-D24E-FAB17569CC78}"/>
              </a:ext>
            </a:extLst>
          </p:cNvPr>
          <p:cNvSpPr txBox="1"/>
          <p:nvPr/>
        </p:nvSpPr>
        <p:spPr>
          <a:xfrm>
            <a:off x="3593604" y="4454878"/>
            <a:ext cx="217719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A planned TCRFC Fan Club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to turn spectators into an active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community around the club.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361E978F-D04A-23D4-2C1D-62A048992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290" y="2028967"/>
            <a:ext cx="609276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39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2762402"/>
            <a:ext cx="3238805" cy="34866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2762402"/>
            <a:ext cx="3238805" cy="576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4476902" y="2762402"/>
            <a:ext cx="3238805" cy="34866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4476902" y="2762402"/>
            <a:ext cx="3238805" cy="57607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8191195" y="2762402"/>
            <a:ext cx="3238805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00707" y="2952598"/>
            <a:ext cx="761695" cy="761695"/>
          </a:xfrm>
          <a:prstGeom prst="ellipse">
            <a:avLst/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Shape 9"/>
          <p:cNvSpPr/>
          <p:nvPr/>
        </p:nvSpPr>
        <p:spPr>
          <a:xfrm>
            <a:off x="5715000" y="2952598"/>
            <a:ext cx="761695" cy="761695"/>
          </a:xfrm>
          <a:prstGeom prst="ellipse">
            <a:avLst/>
          </a:prstGeom>
          <a:solidFill>
            <a:srgbClr val="E6E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10"/>
          <p:cNvSpPr/>
          <p:nvPr/>
        </p:nvSpPr>
        <p:spPr>
          <a:xfrm>
            <a:off x="9430207" y="2952598"/>
            <a:ext cx="761695" cy="761695"/>
          </a:xfrm>
          <a:prstGeom prst="ellipse">
            <a:avLst/>
          </a:prstGeom>
          <a:solidFill>
            <a:srgbClr val="FFF0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1"/>
          <p:cNvSpPr txBox="1"/>
          <p:nvPr/>
        </p:nvSpPr>
        <p:spPr>
          <a:xfrm>
            <a:off x="761695" y="286207"/>
            <a:ext cx="7810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TCRFC ECOSYSTEM</a:t>
            </a:r>
            <a:endParaRPr lang="en-US" sz="31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819302"/>
            <a:ext cx="5829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TCRFC 生態系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1714500"/>
            <a:ext cx="107442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 collaborates with brands, institutions, educators, and sports professionals who share a commitment to youth, excellence, and growth. </a:t>
            </a:r>
            <a:endParaRPr lang="en-US" sz="15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TCRFC 與認同青少年發展、專業精神與長期價值的品牌與機構合作。</a:t>
            </a:r>
            <a:endParaRPr lang="en-US" sz="15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2167128" y="3172504"/>
            <a:ext cx="428854" cy="3429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95198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0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PARTICIPANTS</a:t>
            </a:r>
            <a:endParaRPr lang="en-US" sz="1600" dirty="0">
              <a:solidFill>
                <a:srgbClr val="FE0080"/>
              </a:solidFill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857707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核心參與者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94867" y="4619549"/>
            <a:ext cx="27742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Players, Families, Coaches.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4958791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球員、家庭、教練。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7" r="-27"/>
          <a:stretch/>
        </p:blipFill>
        <p:spPr>
          <a:xfrm>
            <a:off x="5881421" y="3172504"/>
            <a:ext cx="428854" cy="342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10405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PARTNERS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0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策略夥伴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724705" y="4619549"/>
            <a:ext cx="27432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Schools, Brands, Health/Fitness, Media.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667098" y="5202022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學校、品牌、體能健康、媒體。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39605" y="3172504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24698" y="3857854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0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&amp; CULTURE</a:t>
            </a:r>
            <a:endParaRPr lang="en-US" sz="1600" dirty="0">
              <a:solidFill>
                <a:srgbClr val="FE0080"/>
              </a:solidFill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8287207" y="415686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價值流與文化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438998" y="4619549"/>
            <a:ext cx="2743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→ Competition → Content → Community Impact.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8424367" y="5105095"/>
            <a:ext cx="2774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培育 → 競技 → 內容 → 社會影響。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2381098"/>
            <a:ext cx="10668305" cy="3619195"/>
          </a:xfrm>
          <a:prstGeom prst="roundRect">
            <a:avLst>
              <a:gd name="adj" fmla="val 1064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805" y="2952598"/>
            <a:ext cx="3258007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5"/>
          <p:cNvSpPr/>
          <p:nvPr/>
        </p:nvSpPr>
        <p:spPr>
          <a:xfrm>
            <a:off x="4476902" y="2952598"/>
            <a:ext cx="3258007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6"/>
          <p:cNvSpPr/>
          <p:nvPr/>
        </p:nvSpPr>
        <p:spPr>
          <a:xfrm>
            <a:off x="8001000" y="2952598"/>
            <a:ext cx="3258007" cy="1352398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7"/>
          <p:cNvSpPr/>
          <p:nvPr/>
        </p:nvSpPr>
        <p:spPr>
          <a:xfrm>
            <a:off x="952805" y="4858207"/>
            <a:ext cx="10306202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8"/>
          <p:cNvSpPr/>
          <p:nvPr/>
        </p:nvSpPr>
        <p:spPr>
          <a:xfrm>
            <a:off x="761695" y="6191402"/>
            <a:ext cx="38405" cy="476402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9"/>
          <p:cNvSpPr txBox="1"/>
          <p:nvPr/>
        </p:nvSpPr>
        <p:spPr>
          <a:xfrm>
            <a:off x="761695" y="286207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PARTNERS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952805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現有合作夥伴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1714500"/>
            <a:ext cx="10744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Collaborating with brands and institutions that share our commitment to excellence. </a:t>
            </a:r>
            <a:r>
              <a:rPr lang="en-US" sz="15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與認同卓越與成長價值的品牌合作。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2572207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&amp; BRANDING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476902" y="2572207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 &amp; APPAREL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l="396" r="-193"/>
          <a:stretch>
            <a:fillRect/>
          </a:stretch>
        </p:blipFill>
        <p:spPr>
          <a:xfrm>
            <a:off x="4827146" y="3429000"/>
            <a:ext cx="2429408" cy="497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01000" y="2572207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LIFESTYLE &amp; COMMUNITY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t="-6251" b="33"/>
          <a:stretch>
            <a:fillRect/>
          </a:stretch>
        </p:blipFill>
        <p:spPr>
          <a:xfrm>
            <a:off x="8496604" y="3118227"/>
            <a:ext cx="2193007" cy="1024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2805" y="4476902"/>
            <a:ext cx="3353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&amp; TRAINING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37911" b="14321"/>
          <a:stretch>
            <a:fillRect/>
          </a:stretch>
        </p:blipFill>
        <p:spPr>
          <a:xfrm>
            <a:off x="1429207" y="5140245"/>
            <a:ext cx="1904695" cy="446229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2235" t="-1" r="2233" b="3828"/>
          <a:stretch>
            <a:fillRect/>
          </a:stretch>
        </p:blipFill>
        <p:spPr>
          <a:xfrm>
            <a:off x="4095597" y="5067667"/>
            <a:ext cx="2465235" cy="553085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 l="10688" r="10688"/>
          <a:stretch/>
        </p:blipFill>
        <p:spPr>
          <a:xfrm>
            <a:off x="7256554" y="4997195"/>
            <a:ext cx="1929649" cy="66659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22553" y="6286500"/>
            <a:ext cx="10131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Additional partners in discussion. Tailored integrations available. </a:t>
            </a:r>
            <a:r>
              <a:rPr lang="en-US" sz="12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更多夥伴洽談中，可量身訂製合作。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2805" y="6334049"/>
            <a:ext cx="152705" cy="15270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3FC5E61-7644-2270-C2FD-6D2B5858FE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510" y="3187382"/>
            <a:ext cx="2672338" cy="7642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114300"/>
            <a:ext cx="12191695" cy="12188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1619402"/>
            <a:ext cx="6152998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1619402"/>
            <a:ext cx="57607" cy="2286000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761695" y="4095598"/>
            <a:ext cx="6152998" cy="2000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761695" y="4095598"/>
            <a:ext cx="57607" cy="20007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7048195" y="1619402"/>
            <a:ext cx="4381805" cy="47247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7048195" y="1619402"/>
            <a:ext cx="4381805" cy="576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0"/>
          <p:cNvSpPr txBox="1"/>
          <p:nvPr/>
        </p:nvSpPr>
        <p:spPr>
          <a:xfrm>
            <a:off x="761695" y="381305"/>
            <a:ext cx="8763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BRANDS PARTNER WITH TCRFC</a:t>
            </a:r>
            <a:endParaRPr lang="en-US" sz="31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905256"/>
            <a:ext cx="7734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為何選擇TCRFC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27" r="-27"/>
          <a:stretch/>
        </p:blipFill>
        <p:spPr>
          <a:xfrm>
            <a:off x="1071677" y="1919326"/>
            <a:ext cx="428854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14500" y="1857146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VALUES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714500" y="2190902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價值一致．共同成長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714500" y="2523744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Youth development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(青少年培育)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714500" y="2767889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Discipline &amp; excellence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(紀律與卓越)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714500" y="3012034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Community impact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(社會影響力)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714500" y="3255264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Long-term credibility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(長期品牌信任)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4654" y="4395521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714500" y="4334256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OUTCOMES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714500" y="4667098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品牌成果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714500" y="5000854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Authentic stories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(真實故事)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714500" y="5244084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Fan engagement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(粉絲互動)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714500" y="5488229"/>
            <a:ext cx="4877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Measurable impact </a:t>
            </a:r>
            <a:r>
              <a:rPr lang="en-US" sz="1000" dirty="0">
                <a:solidFill>
                  <a:srgbClr val="99999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(可衡量影響)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239305" y="1809598"/>
            <a:ext cx="4114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PROOF: BRAND ACTIVATION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239305" y="5286146"/>
            <a:ext cx="4114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FAN CULTURE &amp; MERCHANDISE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239305" y="5524805"/>
            <a:ext cx="40773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Creating a visible, vibrant identity in the stadium and community.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打造鮮明且充滿活力的球場與社區識別。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81305" y="6572707"/>
            <a:ext cx="1981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</a:t>
            </a:r>
            <a:endParaRPr lang="en-US" sz="1000" dirty="0"/>
          </a:p>
        </p:txBody>
      </p:sp>
      <p:pic>
        <p:nvPicPr>
          <p:cNvPr id="37" name="Picture 31" descr="A pink flag with white text on it&#10;&#10;AI-generated content may be incorrect.">
            <a:extLst>
              <a:ext uri="{FF2B5EF4-FFF2-40B4-BE49-F238E27FC236}">
                <a16:creationId xmlns:a16="http://schemas.microsoft.com/office/drawing/2014/main" id="{911D854E-8692-5D42-59EF-D723DAC6D7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32" t="10723" r="5098" b="22722"/>
          <a:stretch>
            <a:fillRect/>
          </a:stretch>
        </p:blipFill>
        <p:spPr>
          <a:xfrm>
            <a:off x="7239306" y="2190902"/>
            <a:ext cx="4000499" cy="2962656"/>
          </a:xfrm>
          <a:prstGeom prst="rect">
            <a:avLst/>
          </a:prstGeom>
        </p:spPr>
      </p:pic>
      <p:sp>
        <p:nvSpPr>
          <p:cNvPr id="39" name="Text 12">
            <a:extLst>
              <a:ext uri="{FF2B5EF4-FFF2-40B4-BE49-F238E27FC236}">
                <a16:creationId xmlns:a16="http://schemas.microsoft.com/office/drawing/2014/main" id="{CFD0AB3C-672C-9B4D-531D-A4C798400D5D}"/>
              </a:ext>
            </a:extLst>
          </p:cNvPr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761695" y="1714500"/>
            <a:ext cx="2523744" cy="40581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6" name="Shape 4"/>
          <p:cNvSpPr/>
          <p:nvPr/>
        </p:nvSpPr>
        <p:spPr>
          <a:xfrm>
            <a:off x="761695" y="1714500"/>
            <a:ext cx="2523744" cy="57607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3476549" y="1714500"/>
            <a:ext cx="2523744" cy="40581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3476549" y="1714500"/>
            <a:ext cx="2523744" cy="57607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6191402" y="1714500"/>
            <a:ext cx="2523744" cy="40581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6191402" y="1714500"/>
            <a:ext cx="2523744" cy="57607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9"/>
          <p:cNvSpPr/>
          <p:nvPr/>
        </p:nvSpPr>
        <p:spPr>
          <a:xfrm>
            <a:off x="761695" y="5905195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E0E0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06256" y="1714500"/>
            <a:ext cx="2523744" cy="4058107"/>
          </a:xfrm>
          <a:prstGeom prst="rect">
            <a:avLst/>
          </a:prstGeom>
          <a:solidFill>
            <a:srgbClr val="0E1428"/>
          </a:solidFill>
          <a:ln/>
          <a:effectLst>
            <a:outerShdw blurRad="1397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1"/>
          <p:cNvSpPr/>
          <p:nvPr/>
        </p:nvSpPr>
        <p:spPr>
          <a:xfrm>
            <a:off x="8906256" y="1714500"/>
            <a:ext cx="2523744" cy="57607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1238098" y="3238805"/>
            <a:ext cx="1571854" cy="9144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3952951" y="3238805"/>
            <a:ext cx="1571854" cy="9144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6667805" y="3238805"/>
            <a:ext cx="1571854" cy="9144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l="-2089" r="-2089"/>
          <a:stretch/>
        </p:blipFill>
        <p:spPr>
          <a:xfrm>
            <a:off x="9381744" y="3238805"/>
            <a:ext cx="1571854" cy="91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1695" y="2862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SPONSORSHIP LOGIC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809244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贊助設計邏輯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639105" y="381305"/>
            <a:ext cx="57918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Flexible. Scalable. Meaningful.</a:t>
            </a:r>
            <a:endParaRPr lang="en-US" sz="1300" dirty="0"/>
          </a:p>
          <a:p>
            <a:pPr marL="0" indent="0" algn="r">
              <a:buNone/>
            </a:pPr>
            <a:r>
              <a:rPr lang="en-US" sz="1200" dirty="0">
                <a:solidFill>
                  <a:srgbClr val="BBBBB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彈性｜可擴展｜有意義</a:t>
            </a:r>
            <a:endParaRPr lang="en-US" sz="1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l="-607" r="-607"/>
          <a:stretch/>
        </p:blipFill>
        <p:spPr>
          <a:xfrm>
            <a:off x="1824228" y="2014423"/>
            <a:ext cx="390449" cy="3429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10158" y="2572207"/>
            <a:ext cx="242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" y="2857500"/>
            <a:ext cx="2521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品牌曝光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952805" y="3429000"/>
            <a:ext cx="2220163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Kit Sponsorship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Training Wear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Pitch-side Boards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Match Day Branding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球衣/訓練服、場邊看板、比賽日品牌露出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27" r="-27"/>
          <a:stretch/>
        </p:blipFill>
        <p:spPr>
          <a:xfrm>
            <a:off x="4519879" y="2014423"/>
            <a:ext cx="428854" cy="3429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525012" y="2572207"/>
            <a:ext cx="242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3478378" y="2857500"/>
            <a:ext cx="2521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互動參與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3666744" y="3429000"/>
            <a:ext cx="2220163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Digital Content Series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Fan Activations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Player Appearances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Social Campaigns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數位內容企劃、粉絲活動、球員出席、社群行銷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7253021" y="2014423"/>
            <a:ext cx="390449" cy="3429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239866" y="2572207"/>
            <a:ext cx="242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6193231" y="2857500"/>
            <a:ext cx="2521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社會影響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6381598" y="3429000"/>
            <a:ext cx="2220163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Community Programs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Youth Scholarships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School Clinics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CSR Alignment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社區計畫、青訓獎學金、校園巡迴、企業社會責任</a:t>
            </a:r>
            <a:endParaRPr lang="en-US" sz="11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l="-27" r="-27"/>
          <a:stretch/>
        </p:blipFill>
        <p:spPr>
          <a:xfrm>
            <a:off x="9948672" y="2014423"/>
            <a:ext cx="428854" cy="3429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954719" y="2572207"/>
            <a:ext cx="2427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CO-BUILDING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8908085" y="2857500"/>
            <a:ext cx="2521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長期共建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9096451" y="3429000"/>
            <a:ext cx="2220163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Academy Naming Rights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Facility Partnerships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International Tours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100" dirty="0">
                <a:solidFill>
                  <a:srgbClr val="E0E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Strategic Development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BBBBB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學院冠名、場地合作、國際巡迴、策略發展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914400" y="6048756"/>
            <a:ext cx="10363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Partnership models are designed to evolve — from visibility to deeper long-term collaboration. </a:t>
            </a: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合作模式可隨關係深化，從品牌曝光走向長期共建</a:t>
            </a:r>
            <a:r>
              <a:rPr lang="en-US" sz="12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1259007" y="6572707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835C-DDB4-5A11-EF79-75F2E176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C7005C-4F1F-28C1-7688-CBF0B79DA3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EA212-CDC2-9751-F5E9-2A8FBC89FEF2}"/>
              </a:ext>
            </a:extLst>
          </p:cNvPr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C21CE"/>
                </a:solidFill>
                <a:latin typeface="Arial"/>
              </a:rPr>
              <a:t>SPONSORSHIP OPPORTUNITIES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A8E90-5F0E-FB86-05D2-BF508E086C3F}"/>
              </a:ext>
            </a:extLst>
          </p:cNvPr>
          <p:cNvSpPr txBox="1"/>
          <p:nvPr/>
        </p:nvSpPr>
        <p:spPr>
          <a:xfrm>
            <a:off x="640080" y="749808"/>
            <a:ext cx="9334287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 dirty="0">
                <a:latin typeface="Arial"/>
              </a:rPr>
              <a:t>MORE WAYS TO BECOME PART OF THE JOURNEY.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2D960-651B-B68E-135B-63F40A0938F0}"/>
              </a:ext>
            </a:extLst>
          </p:cNvPr>
          <p:cNvSpPr txBox="1"/>
          <p:nvPr/>
        </p:nvSpPr>
        <p:spPr>
          <a:xfrm>
            <a:off x="658368" y="1417320"/>
            <a:ext cx="10607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0A0A5"/>
                </a:solidFill>
                <a:latin typeface="Arial"/>
              </a:rPr>
              <a:t>As the TCRFC ecosystem grows, sponsorship can extend beyond match-day visibility into player development, content and community.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67A34-71CD-829A-269F-8C0A0D82CEFC}"/>
              </a:ext>
            </a:extLst>
          </p:cNvPr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0A0A5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9EE30C-04C9-59E5-86B7-C05BA7668D5C}"/>
              </a:ext>
            </a:extLst>
          </p:cNvPr>
          <p:cNvSpPr/>
          <p:nvPr/>
        </p:nvSpPr>
        <p:spPr>
          <a:xfrm>
            <a:off x="685800" y="201168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65157-1CAC-7775-DA9F-D7F610442C66}"/>
              </a:ext>
            </a:extLst>
          </p:cNvPr>
          <p:cNvSpPr txBox="1"/>
          <p:nvPr/>
        </p:nvSpPr>
        <p:spPr>
          <a:xfrm>
            <a:off x="896112" y="219456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C21CE"/>
                </a:solidFill>
                <a:latin typeface="Arial"/>
              </a:rPr>
              <a:t>CLUB &amp; MATCHDAY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DFABCD-A8CB-1022-F94C-C42A68162F27}"/>
              </a:ext>
            </a:extLst>
          </p:cNvPr>
          <p:cNvSpPr txBox="1"/>
          <p:nvPr/>
        </p:nvSpPr>
        <p:spPr>
          <a:xfrm>
            <a:off x="896112" y="2651760"/>
            <a:ext cx="283763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Kit • training wear • pitch-side • match-day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branding • player appearances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5D324F-BE69-05C5-EEC4-676E7C44A553}"/>
              </a:ext>
            </a:extLst>
          </p:cNvPr>
          <p:cNvSpPr/>
          <p:nvPr/>
        </p:nvSpPr>
        <p:spPr>
          <a:xfrm>
            <a:off x="4370832" y="201168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9875A-773F-A110-B8C2-5D1E2D4AD18C}"/>
              </a:ext>
            </a:extLst>
          </p:cNvPr>
          <p:cNvSpPr txBox="1"/>
          <p:nvPr/>
        </p:nvSpPr>
        <p:spPr>
          <a:xfrm>
            <a:off x="4581144" y="219456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AC743"/>
                </a:solidFill>
                <a:latin typeface="Arial"/>
              </a:rPr>
              <a:t>ACADEMY &amp; YOUTH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E1E9D-9977-45BD-7559-11E75FC6EEC2}"/>
              </a:ext>
            </a:extLst>
          </p:cNvPr>
          <p:cNvSpPr txBox="1"/>
          <p:nvPr/>
        </p:nvSpPr>
        <p:spPr>
          <a:xfrm>
            <a:off x="4581144" y="2651760"/>
            <a:ext cx="324479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Academy support • scholarships • camps • youth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programs • naming opportunities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FB439F3-2F77-CB9C-2A85-EBE647AF5F63}"/>
              </a:ext>
            </a:extLst>
          </p:cNvPr>
          <p:cNvSpPr/>
          <p:nvPr/>
        </p:nvSpPr>
        <p:spPr>
          <a:xfrm>
            <a:off x="8046720" y="201168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5181FD-068A-4D3A-8CD1-055E065C6166}"/>
              </a:ext>
            </a:extLst>
          </p:cNvPr>
          <p:cNvSpPr txBox="1"/>
          <p:nvPr/>
        </p:nvSpPr>
        <p:spPr>
          <a:xfrm>
            <a:off x="8257032" y="219456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FD2DA"/>
                </a:solidFill>
                <a:latin typeface="Arial"/>
              </a:rPr>
              <a:t>INTERNATIONAL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8CDA7-C86C-61E1-5673-8EF5B80D382F}"/>
              </a:ext>
            </a:extLst>
          </p:cNvPr>
          <p:cNvSpPr txBox="1"/>
          <p:nvPr/>
        </p:nvSpPr>
        <p:spPr>
          <a:xfrm>
            <a:off x="8257032" y="2651760"/>
            <a:ext cx="300114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Overseas training • tours • exchanges • trials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• international player pathways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434BAF-108A-46E1-344D-2C24C5324BD8}"/>
              </a:ext>
            </a:extLst>
          </p:cNvPr>
          <p:cNvSpPr/>
          <p:nvPr/>
        </p:nvSpPr>
        <p:spPr>
          <a:xfrm>
            <a:off x="685800" y="370332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B0151-EFFE-E608-679A-D83C5D0B5E13}"/>
              </a:ext>
            </a:extLst>
          </p:cNvPr>
          <p:cNvSpPr txBox="1"/>
          <p:nvPr/>
        </p:nvSpPr>
        <p:spPr>
          <a:xfrm>
            <a:off x="896112" y="388620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F82D5"/>
                </a:solidFill>
                <a:latin typeface="Arial"/>
              </a:rPr>
              <a:t>CONTENT &amp; IP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8249B-25BD-3752-1F49-B809CC89EFA6}"/>
              </a:ext>
            </a:extLst>
          </p:cNvPr>
          <p:cNvSpPr txBox="1"/>
          <p:nvPr/>
        </p:nvSpPr>
        <p:spPr>
          <a:xfrm>
            <a:off x="896112" y="4343400"/>
            <a:ext cx="296908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Manga/comic integration • digital storytelling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• branded content • social campaigns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FAD6AEF-F294-6962-DEC5-EBF8773C78DD}"/>
              </a:ext>
            </a:extLst>
          </p:cNvPr>
          <p:cNvSpPr/>
          <p:nvPr/>
        </p:nvSpPr>
        <p:spPr>
          <a:xfrm>
            <a:off x="4370832" y="370332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439B1-1DD6-E9AA-9A10-6D27F22C801A}"/>
              </a:ext>
            </a:extLst>
          </p:cNvPr>
          <p:cNvSpPr txBox="1"/>
          <p:nvPr/>
        </p:nvSpPr>
        <p:spPr>
          <a:xfrm>
            <a:off x="4581144" y="388620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C21CE"/>
                </a:solidFill>
                <a:latin typeface="Arial"/>
              </a:rPr>
              <a:t>MERCHANDISE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856BCA-3F84-BFE0-A59E-41CF00B7FD0D}"/>
              </a:ext>
            </a:extLst>
          </p:cNvPr>
          <p:cNvSpPr txBox="1"/>
          <p:nvPr/>
        </p:nvSpPr>
        <p:spPr>
          <a:xfrm>
            <a:off x="4581144" y="4343400"/>
            <a:ext cx="292259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Club merchandise • Academy merchandise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• co-branded products • limited editions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4BE60D8-BC18-70D8-B1D7-B656D505E6CB}"/>
              </a:ext>
            </a:extLst>
          </p:cNvPr>
          <p:cNvSpPr/>
          <p:nvPr/>
        </p:nvSpPr>
        <p:spPr>
          <a:xfrm>
            <a:off x="8046720" y="3703320"/>
            <a:ext cx="3474720" cy="1417320"/>
          </a:xfrm>
          <a:prstGeom prst="roundRect">
            <a:avLst/>
          </a:prstGeom>
          <a:solidFill>
            <a:srgbClr val="1F1F22"/>
          </a:solidFill>
          <a:ln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94BA0-6093-DC78-A119-7BB0DCDF0929}"/>
              </a:ext>
            </a:extLst>
          </p:cNvPr>
          <p:cNvSpPr txBox="1"/>
          <p:nvPr/>
        </p:nvSpPr>
        <p:spPr>
          <a:xfrm>
            <a:off x="8257032" y="3886200"/>
            <a:ext cx="30540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7AC743"/>
                </a:solidFill>
                <a:latin typeface="Arial"/>
              </a:rPr>
              <a:t>FAN &amp; COMMUNITY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9F308F-2F18-1E71-97BE-670E19852694}"/>
              </a:ext>
            </a:extLst>
          </p:cNvPr>
          <p:cNvSpPr txBox="1"/>
          <p:nvPr/>
        </p:nvSpPr>
        <p:spPr>
          <a:xfrm>
            <a:off x="8257032" y="4343400"/>
            <a:ext cx="284565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Fan Club • community activations • school </a:t>
            </a:r>
            <a:endParaRPr lang="en-US" sz="1100" b="0" dirty="0">
              <a:solidFill>
                <a:srgbClr val="F5F5F5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F5F5F5"/>
                </a:solidFill>
                <a:latin typeface="Arial"/>
              </a:rPr>
              <a:t>engagement • supporter experiences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46827B-A6D3-5614-1AA2-6DF705F0DF1B}"/>
              </a:ext>
            </a:extLst>
          </p:cNvPr>
          <p:cNvSpPr txBox="1"/>
          <p:nvPr/>
        </p:nvSpPr>
        <p:spPr>
          <a:xfrm>
            <a:off x="640080" y="6446520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0A0A5"/>
                </a:solidFill>
                <a:latin typeface="Arial"/>
              </a:rPr>
              <a:t>TCRFC  |  TAICHUNG ROCKS FOOTBALL CLUB</a:t>
            </a:r>
          </a:p>
        </p:txBody>
      </p:sp>
    </p:spTree>
    <p:extLst>
      <p:ext uri="{BB962C8B-B14F-4D97-AF65-F5344CB8AC3E}">
        <p14:creationId xmlns:p14="http://schemas.microsoft.com/office/powerpoint/2010/main" val="3688813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10287000" y="6476695"/>
            <a:ext cx="1904695" cy="381305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1333195"/>
            <a:ext cx="12191695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6096305" y="2095805"/>
            <a:ext cx="19202" cy="38103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190195"/>
            <a:ext cx="5906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857707"/>
            <a:ext cx="5906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合作機會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SOMETHING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LASTS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2857500"/>
            <a:ext cx="4849063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Partnering with TCRFC is an opportunity to support talent, strengthen community, and shape the future of football in Taiwan.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4272730"/>
            <a:ext cx="484906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 in a future‑proof institution.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today. Bigger future.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with us now.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67805" y="1904695"/>
            <a:ext cx="4877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共建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長遠價值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667805" y="3088612"/>
            <a:ext cx="48490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 TCRFC 合作，是投資人才、回饋社會、參與台灣足球未來的機會。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667805" y="4285793"/>
            <a:ext cx="4849063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投資一個可長可久的機構</a:t>
            </a:r>
            <a:r>
              <a:rPr lang="en-US" sz="18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今日有證據，未來更可期。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E14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現在加入我們。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0591495" y="6572707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24" b="-24"/>
          <a:stretch/>
        </p:blipFill>
        <p:spPr>
          <a:xfrm>
            <a:off x="5857646" y="6029554"/>
            <a:ext cx="476402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ADD28884-0719-AB8D-F5CA-576720A3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891" y="-1390632"/>
            <a:ext cx="12263475" cy="819268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827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384" b="-384"/>
          <a:stretch/>
        </p:blipFill>
        <p:spPr>
          <a:xfrm>
            <a:off x="5619902" y="2905049"/>
            <a:ext cx="952805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67305" y="4334256"/>
            <a:ext cx="2095805" cy="13716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0" name="Shape 5"/>
          <p:cNvSpPr/>
          <p:nvPr/>
        </p:nvSpPr>
        <p:spPr>
          <a:xfrm>
            <a:off x="2667305" y="4334256"/>
            <a:ext cx="2095805" cy="3840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Shape 6"/>
          <p:cNvSpPr/>
          <p:nvPr/>
        </p:nvSpPr>
        <p:spPr>
          <a:xfrm>
            <a:off x="5048402" y="4334256"/>
            <a:ext cx="2095805" cy="13716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2" name="Shape 7"/>
          <p:cNvSpPr/>
          <p:nvPr/>
        </p:nvSpPr>
        <p:spPr>
          <a:xfrm>
            <a:off x="5048402" y="4334256"/>
            <a:ext cx="2095805" cy="38405"/>
          </a:xfrm>
          <a:prstGeom prst="rect">
            <a:avLst/>
          </a:prstGeom>
          <a:solidFill>
            <a:srgbClr val="FF007F"/>
          </a:solidFill>
          <a:ln w="12700">
            <a:solidFill>
              <a:srgbClr val="FF007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8"/>
          <p:cNvSpPr/>
          <p:nvPr/>
        </p:nvSpPr>
        <p:spPr>
          <a:xfrm>
            <a:off x="7429500" y="4334256"/>
            <a:ext cx="2095805" cy="1371600"/>
          </a:xfrm>
          <a:prstGeom prst="rect">
            <a:avLst/>
          </a:prstGeom>
          <a:solidFill>
            <a:srgbClr val="F8F9FA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9"/>
          <p:cNvSpPr/>
          <p:nvPr/>
        </p:nvSpPr>
        <p:spPr>
          <a:xfrm>
            <a:off x="7429500" y="4334256"/>
            <a:ext cx="2095805" cy="38405"/>
          </a:xfrm>
          <a:prstGeom prst="rect">
            <a:avLst/>
          </a:prstGeom>
          <a:solidFill>
            <a:srgbClr val="0E1428"/>
          </a:solidFill>
          <a:ln w="12700">
            <a:solidFill>
              <a:srgbClr val="0E14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10"/>
          <p:cNvSpPr/>
          <p:nvPr/>
        </p:nvSpPr>
        <p:spPr>
          <a:xfrm>
            <a:off x="0" y="5905195"/>
            <a:ext cx="12191695" cy="952805"/>
          </a:xfrm>
          <a:prstGeom prst="rect">
            <a:avLst/>
          </a:prstGeom>
          <a:solidFill>
            <a:srgbClr val="0E14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Text 11"/>
          <p:cNvSpPr txBox="1"/>
          <p:nvPr/>
        </p:nvSpPr>
        <p:spPr>
          <a:xfrm>
            <a:off x="1248156" y="952805"/>
            <a:ext cx="9697212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-75" dirty="0">
                <a:solidFill>
                  <a:srgbClr val="FE0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FUTURE TOGETHER</a:t>
            </a:r>
            <a:endParaRPr lang="en-US" sz="4200" dirty="0">
              <a:solidFill>
                <a:srgbClr val="FE0080"/>
              </a:solidFill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238098" y="2333549"/>
            <a:ext cx="9715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7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攜手打造未來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2247595" y="3143707"/>
            <a:ext cx="7696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welcome conversations, visits, and collaborations with partners who believe in long-term impact.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2190902" y="3762756"/>
            <a:ext cx="7810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77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我們誠摯邀請理念相同的夥伴，一同對話、交流與合作。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3524098" y="4533595"/>
            <a:ext cx="38130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723998" y="5000854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MEETINGS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2686507" y="5219395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策略會談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5982005" y="4533595"/>
            <a:ext cx="228600" cy="3044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105095" y="5000854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VISITS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067605" y="5219395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場域參訪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24698" y="4533595"/>
            <a:ext cx="304495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87107" y="5000854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14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CO-DESIGNED PILOTS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7448702" y="5219395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共創試辦專案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3994172" y="6171306"/>
            <a:ext cx="69082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b="1" kern="0" spc="38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info@tcrfc.tw</a:t>
            </a:r>
            <a:r>
              <a:rPr lang="en-US" sz="13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</a:t>
            </a:r>
            <a:r>
              <a:rPr lang="en-US" sz="1300" b="1" kern="0" spc="38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tcrfc.tw</a:t>
            </a:r>
            <a:r>
              <a:rPr lang="en-US" sz="13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@tcr_fc_2024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2660" r="-2660"/>
          <a:stretch/>
        </p:blipFill>
        <p:spPr>
          <a:xfrm>
            <a:off x="3755441" y="6193242"/>
            <a:ext cx="181051" cy="171907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2660" r="-2660"/>
          <a:stretch/>
        </p:blipFill>
        <p:spPr>
          <a:xfrm>
            <a:off x="5606186" y="6203290"/>
            <a:ext cx="181051" cy="171907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6914693" y="6203290"/>
            <a:ext cx="152705" cy="1719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1259007" y="6524244"/>
            <a:ext cx="5532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1605</Words>
  <Application>Microsoft Macintosh PowerPoint</Application>
  <PresentationFormat>Widescreen</PresentationFormat>
  <Paragraphs>392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Noto Sans TC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Cyril Frayon 2</cp:lastModifiedBy>
  <cp:revision>7</cp:revision>
  <dcterms:created xsi:type="dcterms:W3CDTF">2026-03-27T01:17:33Z</dcterms:created>
  <dcterms:modified xsi:type="dcterms:W3CDTF">2026-08-10T06:47:29Z</dcterms:modified>
</cp:coreProperties>
</file>